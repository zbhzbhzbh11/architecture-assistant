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架构风格智能助手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4688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CCDDFF"/>
                </a:solidFill>
                <a:latin typeface="Microsoft YaHei"/>
              </a:defRPr>
            </a:pPr>
            <a:r>
              <a:t>基于 LangGraph 的 Compound AI 推荐系统 · 架构设计专题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657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ABBEE"/>
                </a:solidFill>
                <a:latin typeface="Microsoft YaHei"/>
              </a:defRPr>
            </a:pPr>
            <a:r>
              <a:t>软件体系结构课程答辩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0292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AADD"/>
                </a:solidFill>
                <a:latin typeface="Microsoft YaHei"/>
              </a:defRPr>
            </a:pPr>
            <a:r>
              <a:t>FastAPI · LangGraph · Neo4j · LLM · Docker · Compound AI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1/18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问题定义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CEE"/>
                </a:solidFill>
                <a:latin typeface="Microsoft YaHei"/>
              </a:defRPr>
            </a:pPr>
            <a:r>
              <a:t>传统架构选型的三大痛点与 Compound AI 解决方案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56DB"/>
                </a:solidFill>
                <a:latin typeface="Microsoft YaHei"/>
              </a:defRPr>
            </a:pPr>
            <a:r>
              <a:t>传统架构选型三大痛点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4754880" cy="640080"/>
          </a:xfrm>
          <a:prstGeom prst="round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C0392B"/>
                </a:solidFill>
                <a:latin typeface="Microsoft YaHei"/>
              </a:defRPr>
            </a:pPr>
            <a:r>
              <a:t>  效率低: 依赖个人经验，缺少系统化方法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880360"/>
            <a:ext cx="4754880" cy="640080"/>
          </a:xfrm>
          <a:prstGeom prst="round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C0392B"/>
                </a:solidFill>
                <a:latin typeface="Microsoft YaHei"/>
              </a:defRPr>
            </a:pPr>
            <a:r>
              <a:t>  不稳定: 不同评审者结论不同，不可复现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4754880" cy="640080"/>
          </a:xfrm>
          <a:prstGeom prst="round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C0392B"/>
                </a:solidFill>
                <a:latin typeface="Microsoft YaHei"/>
              </a:defRPr>
            </a:pPr>
            <a:r>
              <a:t>  不完整: 缺少量化评分与决策追溯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D7D46"/>
                </a:solidFill>
                <a:latin typeface="Microsoft YaHei"/>
              </a:defRPr>
            </a:pPr>
            <a:r>
              <a:t>解决方案: 三层 Compound AI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103120"/>
            <a:ext cx="5029200" cy="64008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2D7D46"/>
                </a:solidFill>
                <a:latin typeface="Microsoft YaHei"/>
              </a:defRPr>
            </a:pPr>
            <a:r>
              <a:t>  规则引擎: 确定性基线 — 10维关键词 + 7条规则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880360"/>
            <a:ext cx="5029200" cy="64008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2D7D46"/>
                </a:solidFill>
                <a:latin typeface="Microsoft YaHei"/>
              </a:defRPr>
            </a:pPr>
            <a:r>
              <a:t>  Neo4j 知识图谱: 关系推理增强 — HAS_QUALITY 遍历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3657600"/>
            <a:ext cx="5029200" cy="64008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2D7D46"/>
                </a:solidFill>
                <a:latin typeface="Microsoft YaHei"/>
              </a:defRPr>
            </a:pPr>
            <a:r>
              <a:t>  LLM 语义理解: 提升上限 — tie-break 投票 + 摘要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3035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56DB"/>
                </a:solidFill>
                <a:latin typeface="Microsoft YaHei"/>
              </a:defRPr>
            </a:pPr>
            <a:r>
              <a:t>核心设计理念: 规则保证下限，图谱增强关系，LLM 提升上限 — 每层独立可降级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2/18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需求理解: 从自然语言到特征信号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CEE"/>
                </a:solidFill>
                <a:latin typeface="Microsoft YaHei"/>
              </a:defRPr>
            </a:pPr>
            <a:r>
              <a:t>对应课程要求 §二.2 — 非结构化文本的特征提取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56DB"/>
                </a:solidFill>
                <a:latin typeface="Microsoft YaHei"/>
              </a:defRPr>
            </a:pPr>
            <a:r>
              <a:t>三步特征提取管线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011680"/>
            <a:ext cx="530352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D7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D7D46"/>
                </a:solidFill>
                <a:latin typeface="Microsoft YaHei"/>
              </a:defRPr>
            </a:pPr>
            <a:r>
              <a:t>  1. 关键词匹配 (10维 × ≈90词)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defRPr sz="1300" b="0">
                <a:solidFill>
                  <a:srgbClr val="1E1E1E"/>
                </a:solidFill>
                <a:latin typeface="Microsoft YaHei"/>
              </a:defRPr>
            </a:pPr>
            <a:r>
              <a:t>     "万人"→高并发  "消息"→实时  "可靠"→可靠性  "扩展"→可扩展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926080"/>
            <a:ext cx="530352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A56DB"/>
                </a:solidFill>
                <a:latin typeface="Microsoft YaHei"/>
              </a:defRPr>
            </a:pPr>
            <a:r>
              <a:t>  2. 否定语义过滤 (6种模式)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defRPr sz="1300" b="0">
                <a:solidFill>
                  <a:srgbClr val="1E1E1E"/>
                </a:solidFill>
                <a:latin typeface="Microsoft YaHei"/>
              </a:defRPr>
            </a:pPr>
            <a:r>
              <a:t>     "不需要高并发" → 剔除高并发  "无需实时" → 剔除实时性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840480"/>
            <a:ext cx="530352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35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D35400"/>
                </a:solidFill>
                <a:latin typeface="Microsoft YaHei"/>
              </a:defRPr>
            </a:pPr>
            <a:r>
              <a:t>  3. LLM 语义补全 (条件触发)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defRPr sz="1300" b="0">
                <a:solidFill>
                  <a:srgbClr val="1E1E1E"/>
                </a:solidFill>
                <a:latin typeface="Microsoft YaHei"/>
              </a:defRPr>
            </a:pPr>
            <a:r>
              <a:t>     仅当命中 ≤2维 + LLM已配置时触发 | t=0.1 | 不可用→静默跳过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56DB"/>
                </a:solidFill>
                <a:latin typeface="Microsoft YaHei"/>
              </a:defRPr>
            </a:pPr>
            <a:r>
              <a:t>10 个质量属性维度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583680" y="2011680"/>
          <a:ext cx="50292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0175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维度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示例关键词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高并发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万人 / 秒杀 / 高吞吐 / QPS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实时性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实时 / 低延迟 / 即时 / 在线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可靠性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高可用 / 容灾 / 容错 / 不丢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可扩展性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扩展 / 弹性 / 扩容 / 横向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复杂业务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交易 / 审批 / 工作流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强一致性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强一致 / 事务 / 金融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部署约束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本地部署 / 私有化 / 边缘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数据密集型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数据流 / ETL / 流处理 / 日志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多团队协作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多团队 / 并行开发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安全性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安全 / 加密 / 认证 / 审计 / 合规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31520" y="5943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56DB"/>
                </a:solidFill>
                <a:latin typeface="Microsoft YaHei"/>
              </a:defRPr>
            </a:pPr>
            <a:r>
              <a:t>对应课程评分标准 §四: 需求分析 (15%) — 对 AI 系统不确定性的处理方案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3/18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为什么不是普通 LLM 聊天机器人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10515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474720"/>
                <a:gridCol w="50292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维度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普通 ChatBot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Compound AI System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推理方式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LLM 全包，黑盒生成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规则引擎主导 + 图谱推理 + LLM 增强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可解释性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无法追溯评分依据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每分可追溯来源 (标签/规则/图谱)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可靠性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LLM 挂了系统全瘫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LLM 不可用自动降级纯规则模式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幻觉风险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可能推荐不存在的风格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四道防线: 规则限定候选 + 闭集投票 + 强制校验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领域知识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训练数据模糊记忆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10种风格结构化知识库 + 7条专家规则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输出格式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自由文本，不可控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结构化报告: 推荐+对比矩阵+风险+ADR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5760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56DB"/>
                </a:solidFill>
                <a:latin typeface="Microsoft YaHei"/>
              </a:defRPr>
            </a:pPr>
            <a:r>
              <a:t>Compound AI = 多个专用组件协同，而非单一模型 — 每个组件有明确的职责边界和独立的降级能力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4/18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C4 Context 图 — 系统上下文</a:t>
            </a:r>
          </a:p>
        </p:txBody>
      </p:sp>
      <p:pic>
        <p:nvPicPr>
          <p:cNvPr id="4" name="Picture 3" descr="diagram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1247120" cy="46634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126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关键设计: LLM 在系统边界之外 — 不可用时自动降级为纯规则模式，核心推荐链路不受影响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5/18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C4 Container 图 — 8 容器微服务架构</a:t>
            </a:r>
          </a:p>
        </p:txBody>
      </p:sp>
      <p:pic>
        <p:nvPicPr>
          <p:cNvPr id="4" name="Picture 3" descr="diagram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1247120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6/18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数据层设计: Neo4j 知识图谱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CEE"/>
                </a:solidFill>
                <a:latin typeface="Microsoft YaHei"/>
              </a:defRPr>
            </a:pPr>
            <a:r>
              <a:t>对应课程要求 §二.2 知识库模块 — ≥10 种架构风格 + HAS_QUALITY 关系推理</a:t>
            </a:r>
          </a:p>
        </p:txBody>
      </p:sp>
      <p:pic>
        <p:nvPicPr>
          <p:cNvPr id="5" name="Picture 4" descr="质量属性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6400800" cy="5303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3232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6DB"/>
                </a:solidFill>
                <a:latin typeface="Microsoft YaHei"/>
              </a:defRPr>
            </a:pPr>
            <a:r>
              <a:t>10 种架构风格 (完整覆盖)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132320" y="1737360"/>
          <a:ext cx="384048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9144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风格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属性数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微服务架构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事件驱动架构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CQRS (命令查询分离)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管道-过滤器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分层架构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六边形架构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面向服务架构 (SOA)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无服务器架构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空间架构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客户端-服务器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132320" y="557784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6节点类型 + 6关系类型</a:t>
            </a:r>
            <a:br/>
            <a:r>
              <a:t>HAS_QUALITY / SUITABLE_FOR / HAS_RISK</a:t>
            </a:r>
            <a:br/>
            <a:r>
              <a:t>COMPLEMENTS / RECOMMENDS / BASED_ON</a:t>
            </a:r>
            <a:br/>
            <a:br/>
            <a:r>
              <a:t>Neo4j 可选 — KNOWLEDGE_BACKEND</a:t>
            </a:r>
            <a:br/>
            <a:r>
              <a:t>=auto 模式自动 fallback JSON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7/18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微服务划分决策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CEE"/>
                </a:solidFill>
                <a:latin typeface="Microsoft YaHei"/>
              </a:defRPr>
            </a:pPr>
            <a:r>
              <a:t>8 容器 / 4 Agent — 为什么不是单体？对应课程 §二.1 微服务架构约束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71600"/>
          <a:ext cx="1042416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097280"/>
                <a:gridCol w="3657600"/>
                <a:gridCol w="384048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服务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端口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职责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独立理由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frontend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3000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用户交互与可视化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前后端分离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api-gateway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8000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请求编排 + 缓存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单一对外入口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req-agent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8001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特征提取(规则+LLM)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CPU + 网络IO 混合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match-agent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8002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规则评分 + 图谱融合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独立接入 Neo4j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eval-agent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8003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LLM 评估 + ADR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LLM 故障隔离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kb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8004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双后端知识存取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数据层独立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ref-agent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8005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坏味检测 + 迁移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重构逻辑独立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neo4j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7687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图数据库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可选后端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51206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A56DB"/>
                </a:solidFill>
                <a:latin typeface="Microsoft YaHei"/>
              </a:defRPr>
            </a:pPr>
            <a:r>
              <a:t>拆分五原则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defRPr sz="1400" b="0">
                <a:solidFill>
                  <a:srgbClr val="1E1E1E"/>
                </a:solidFill>
                <a:latin typeface="Microsoft YaHei"/>
              </a:defRPr>
            </a:pPr>
            <a:r>
              <a:t>  领域解耦 — 特征提取(CPU密集) vs 评估(IO密集) 分离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defRPr sz="1400" b="0">
                <a:solidFill>
                  <a:srgbClr val="1E1E1E"/>
                </a:solidFill>
                <a:latin typeface="Microsoft YaHei"/>
              </a:defRPr>
            </a:pPr>
            <a:r>
              <a:t>  故障隔离 — LLM 超时只影响摘要质量，不影响特征提取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defRPr sz="1400" b="0">
                <a:solidFill>
                  <a:srgbClr val="1E1E1E"/>
                </a:solidFill>
                <a:latin typeface="Microsoft YaHei"/>
              </a:defRPr>
            </a:pPr>
            <a:r>
              <a:t>  异构集成 — matching-agent 独立接入 Neo4j driver (已在上页展示)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defRPr sz="1400" b="0">
                <a:solidFill>
                  <a:srgbClr val="1E1E1E"/>
                </a:solidFill>
                <a:latin typeface="Microsoft YaHei"/>
              </a:defRPr>
            </a:pPr>
            <a:r>
              <a:t>  独立部署 — 每个服务独立 Dockerfile，代码量 ≤ 393 行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defRPr sz="1400" b="0">
                <a:solidFill>
                  <a:srgbClr val="1E1E1E"/>
                </a:solidFill>
                <a:latin typeface="Microsoft YaHei"/>
              </a:defRPr>
            </a:pPr>
            <a:r>
              <a:t>  技术灵活 — 环境变量驱动，切换 LLM/缓存/存储无需改代码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8/18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Agent 协作时序图</a:t>
            </a:r>
          </a:p>
        </p:txBody>
      </p:sp>
      <p:pic>
        <p:nvPicPr>
          <p:cNvPr id="4" name="Picture 3" descr="diagram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1247120" cy="46634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126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Step1 特征提取(详见第3页) → Step2 架构匹配(规则+图谱) → Step3 评估决策(LLM并行) → Step4 重构建议(非阻塞)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9/18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LangGraph StateGraph + Subgraph 展开</a:t>
            </a:r>
          </a:p>
        </p:txBody>
      </p:sp>
      <p:pic>
        <p:nvPicPr>
          <p:cNvPr id="4" name="Picture 3" descr="diagram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1247120" cy="46634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126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父图 4 节点顺序执行 + matching-agent Subgraph (3子节点) + evaluation-agent Subgraph (4子节点, Send() 并行扇出)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10/18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三层混合推理架构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CEE"/>
                </a:solidFill>
                <a:latin typeface="Microsoft YaHei"/>
              </a:defRPr>
            </a:pPr>
            <a:r>
              <a:t>对应课程 §二.2 推理决策模块 + §一.4 知识进化 — 规则保证下限，图谱增强关系，LLM 提升上限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11247120" cy="150876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2D7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2D7D46"/>
                </a:solidFill>
                <a:latin typeface="Microsoft YaHei"/>
              </a:defRPr>
            </a:pPr>
            <a:r>
              <a:t>  Layer 1: 规则引擎评分 [始终运行 — 保证下限]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400" b="0">
                <a:solidFill>
                  <a:srgbClr val="1E1E1E"/>
                </a:solidFill>
                <a:latin typeface="Microsoft YaHei"/>
              </a:defRPr>
            </a:pPr>
            <a:r>
              <a:t>     标签匹配: tag ∈ features → +2 分/项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400" b="0">
                <a:solidFill>
                  <a:srgbClr val="1E1E1E"/>
                </a:solidFill>
                <a:latin typeface="Microsoft YaHei"/>
              </a:defRPr>
            </a:pPr>
            <a:r>
              <a:t>     6 条硬编码规则 → +1 分 (高并发→EDA / 多团队→微服务 / 强一致→分层 / ...)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400" b="0">
                <a:solidFill>
                  <a:srgbClr val="1E1E1E"/>
                </a:solidFill>
                <a:latin typeface="Microsoft YaHei"/>
              </a:defRPr>
            </a:pPr>
            <a:r>
              <a:t>     学习权重 ≥ 2 次确认 → +1 分  ← 知识进化 (§一.4): 用户反馈驱动权重更新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400" b="0">
                <a:solidFill>
                  <a:srgbClr val="1E1E1E"/>
                </a:solidFill>
                <a:latin typeface="Microsoft YaHei"/>
              </a:defRPr>
            </a:pPr>
            <a:r>
              <a:t>     主流保底: Layered / Microservices / Event-Driven 始终进入 Top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017520"/>
            <a:ext cx="11247120" cy="1508760"/>
          </a:xfrm>
          <a:prstGeom prst="roundRect">
            <a:avLst/>
          </a:prstGeom>
          <a:solidFill>
            <a:srgbClr val="F0F4FF"/>
          </a:solidFill>
          <a:ln w="127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A56DB"/>
                </a:solidFill>
                <a:latin typeface="Microsoft YaHei"/>
              </a:defRPr>
            </a:pPr>
            <a:r>
              <a:t>  Layer 2: 知识图谱推理 [可选 — 关系增强]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400" b="0">
                <a:solidFill>
                  <a:srgbClr val="1E1E1E"/>
                </a:solidFill>
                <a:latin typeface="Microsoft YaHei"/>
              </a:defRPr>
            </a:pPr>
            <a:r>
              <a:t>     Neo4j Cypher 遍历 HAS_QUALITY 关系 (详见第7页图模型)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400" b="0">
                <a:solidFill>
                  <a:srgbClr val="1E1E1E"/>
                </a:solidFill>
                <a:latin typeface="Microsoft YaHei"/>
              </a:defRPr>
            </a:pPr>
            <a:r>
              <a:t>     每个匹配质量属性 +2 图谱分 | 上限 ≤ 规则分 50%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400" b="0">
                <a:solidFill>
                  <a:srgbClr val="1E1E1E"/>
                </a:solidFill>
                <a:latin typeface="Microsoft YaHei"/>
              </a:defRPr>
            </a:pPr>
            <a:r>
              <a:t>     不可用 → 图谱加分 = 0，自动回退 JSON 文件存储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754879"/>
            <a:ext cx="11247120" cy="150876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D35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D35400"/>
                </a:solidFill>
                <a:latin typeface="Microsoft YaHei"/>
              </a:defRPr>
            </a:pPr>
            <a:r>
              <a:t>  Layer 3: LLM 语义理解 [可选 — 提升上限]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400" b="0">
                <a:solidFill>
                  <a:srgbClr val="1E1E1E"/>
                </a:solidFill>
                <a:latin typeface="Microsoft YaHei"/>
              </a:defRPr>
            </a:pPr>
            <a:r>
              <a:t>     投票: t=0.0，闭集选择 + 候选强制校验 | 摘要: t=0.3，Few-shot + 降级模板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400" b="0">
                <a:solidFill>
                  <a:srgbClr val="1E1E1E"/>
                </a:solidFill>
                <a:latin typeface="Microsoft YaHei"/>
              </a:defRPr>
            </a:pPr>
            <a:r>
              <a:t>     LLM 权重 = +1 (仅 tie-break — 保证可解释性优先于智能性)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400" b="0">
                <a:solidFill>
                  <a:srgbClr val="1E1E1E"/>
                </a:solidFill>
                <a:latin typeface="Microsoft YaHei"/>
              </a:defRPr>
            </a:pPr>
            <a:r>
              <a:t>     失败 → _fallback_summary() 用规则理由生成结构化中文报告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11/18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防止 LLM 幻觉的四道防线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1124712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A56DB"/>
                </a:solidFill>
                <a:latin typeface="Microsoft YaHei"/>
              </a:defRPr>
            </a:pPr>
            <a:r>
              <a:t>  防线 1: LLM 不参与候选集生成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E1E1E"/>
                </a:solidFill>
                <a:latin typeface="Microsoft YaHei"/>
              </a:defRPr>
            </a:pPr>
            <a:r>
              <a:t>     Top 3 由规则引擎确定，LLM 无权推荐规则外风格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06040"/>
            <a:ext cx="1124712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A56DB"/>
                </a:solidFill>
                <a:latin typeface="Microsoft YaHei"/>
              </a:defRPr>
            </a:pPr>
            <a:r>
              <a:t>  防线 2: 闭集投票 + 字符串精确匹配校验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E1E1E"/>
                </a:solidFill>
                <a:latin typeface="Microsoft YaHei"/>
              </a:defRPr>
            </a:pPr>
            <a:r>
              <a:t>     Prompt 明确: "仅从以下候选列表中选择"；返回值不在候选列表中 → 直接丢弃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840480"/>
            <a:ext cx="1124712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D7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2D7D46"/>
                </a:solidFill>
                <a:latin typeface="Microsoft YaHei"/>
              </a:defRPr>
            </a:pPr>
            <a:r>
              <a:t>  防线 3: 低温度参数约束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E1E1E"/>
                </a:solidFill>
                <a:latin typeface="Microsoft YaHei"/>
              </a:defRPr>
            </a:pPr>
            <a:r>
              <a:t>     投票 t=0.0 (贪婪解码)，摘要 t=0.3 — 最大化确定性，最小化随机性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074920"/>
            <a:ext cx="1124712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D7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2D7D46"/>
                </a:solidFill>
                <a:latin typeface="Microsoft YaHei"/>
              </a:defRPr>
            </a:pPr>
            <a:r>
              <a:t>  防线 4: Few-shot 格式化约束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E1E1E"/>
                </a:solidFill>
                <a:latin typeface="Microsoft YaHei"/>
              </a:defRPr>
            </a:pPr>
            <a:r>
              <a:t>     9 个标注示例严格约束输出 Schema；非 JSON 输出容错解析，失败则丢弃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3093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D7D46"/>
                </a:solidFill>
                <a:latin typeface="Microsoft YaHei"/>
              </a:defRPr>
            </a:pPr>
            <a:r>
              <a:t>LLM 的不确定性被严格限制在'摘要质量'层面，不污染核心推荐逻辑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12/18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LLM 集成方案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CEE"/>
                </a:solidFill>
                <a:latin typeface="Microsoft YaHei"/>
              </a:defRPr>
            </a:pPr>
            <a:r>
              <a:t>4 处调用点 · 全部兼容 OpenAI 协议 · 全部可降级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71600"/>
          <a:ext cx="10515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1828800"/>
                <a:gridCol w="1828800"/>
                <a:gridCol w="914400"/>
                <a:gridCol w="1097280"/>
                <a:gridCol w="41148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位置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用途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t°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超时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失败策略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req-agent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语义补全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15s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静默维持规则特征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eval-agent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风格投票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20s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返回 null，规则排序不变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eval-agent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摘要生成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25s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fallback 规则模板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ref-agent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步骤润色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0.3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15s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规则模板原文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36576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A56DB"/>
                </a:solidFill>
                <a:latin typeface="Microsoft YaHei"/>
              </a:defRPr>
            </a:pPr>
            <a:r>
              <a:t>LLM 配置 (环境变量注入，3 行切换模型)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E1E1E"/>
                </a:solidFill>
                <a:latin typeface="Microsoft YaHei"/>
              </a:defRPr>
            </a:pPr>
            <a:r>
              <a:t>    LLM_API_BASE  → https://api.deepseek.com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E1E1E"/>
                </a:solidFill>
                <a:latin typeface="Microsoft YaHei"/>
              </a:defRPr>
            </a:pPr>
            <a:r>
              <a:t>    LLM_API_KEY   → sk-xxxx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E1E1E"/>
                </a:solidFill>
                <a:latin typeface="Microsoft YaHei"/>
              </a:defRPr>
            </a:pPr>
            <a:r>
              <a:t>    LLM_MODEL     → deepseek-v4-flash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93776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A56DB"/>
                </a:solidFill>
                <a:latin typeface="Microsoft YaHei"/>
              </a:defRPr>
            </a:pPr>
            <a:r>
              <a:t>Few-shot Prompt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400" b="0">
                <a:solidFill>
                  <a:srgbClr val="1E1E1E"/>
                </a:solidFill>
                <a:latin typeface="Microsoft YaHei"/>
              </a:defRPr>
            </a:pPr>
            <a:r>
              <a:t>  需求侧 6 示例 (模糊/否定/安全/数据/一致/重构)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400" b="0">
                <a:solidFill>
                  <a:srgbClr val="1E1E1E"/>
                </a:solidFill>
                <a:latin typeface="Microsoft YaHei"/>
              </a:defRPr>
            </a:pPr>
            <a:r>
              <a:t>  评估侧 3 示例 (EDA/MS/Layered 报告)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400" b="0">
                <a:solidFill>
                  <a:srgbClr val="1E1E1E"/>
                </a:solidFill>
                <a:latin typeface="Microsoft YaHei"/>
              </a:defRPr>
            </a:pPr>
            <a:r>
              <a:t>  模块不可用 → 自动降级零样本 Prompt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493776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A56DB"/>
                </a:solidFill>
                <a:latin typeface="Microsoft YaHei"/>
              </a:defRPr>
            </a:pPr>
            <a:r>
              <a:t>LLM 请求缓存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400" b="0">
                <a:solidFill>
                  <a:srgbClr val="1E1E1E"/>
                </a:solidFill>
                <a:latin typeface="Microsoft YaHei"/>
              </a:defRPr>
            </a:pPr>
            <a:r>
              <a:t>  键: SHA256(requirement + model + knowledge_version)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400" b="0">
                <a:solidFill>
                  <a:srgbClr val="1E1E1E"/>
                </a:solidFill>
                <a:latin typeface="Microsoft YaHei"/>
              </a:defRPr>
            </a:pPr>
            <a:r>
              <a:t>  knowledge_version = styles 文件 MD5 前 8 位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400" b="0">
                <a:solidFill>
                  <a:srgbClr val="1E1E1E"/>
                </a:solidFill>
                <a:latin typeface="Microsoft YaHei"/>
              </a:defRPr>
            </a:pPr>
            <a:r>
              <a:t>  知识库更新 → 旧缓存自动失效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400" b="0">
                <a:solidFill>
                  <a:srgbClr val="1E1E1E"/>
                </a:solidFill>
                <a:latin typeface="Microsoft YaHei"/>
              </a:defRPr>
            </a:pPr>
            <a:r>
              <a:t>  双后端: memory (默认) / SQLite (持久化)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13/18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创新方向建议 (课程 §六.3)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CEE"/>
                </a:solidFill>
                <a:latin typeface="Microsoft YaHei"/>
              </a:defRPr>
            </a:pPr>
            <a:r>
              <a:t>ADR 决策溯源 · 架构组合推荐 · 架构重构建议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11247120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A56DB"/>
                </a:solidFill>
                <a:latin typeface="Microsoft YaHei"/>
              </a:defRPr>
            </a:pPr>
            <a:r>
              <a:t>  ADR 架构决策溯源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400" b="0">
                <a:solidFill>
                  <a:srgbClr val="1E1E1E"/>
                </a:solidFill>
                <a:latin typeface="Microsoft YaHei"/>
              </a:defRPr>
            </a:pPr>
            <a:r>
              <a:t>     每次推荐自动生成 ADR-YYYYMMDD-NNN 格式决策记录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400" b="0">
                <a:solidFill>
                  <a:srgbClr val="1E1E1E"/>
                </a:solidFill>
                <a:latin typeface="Microsoft YaHei"/>
              </a:defRPr>
            </a:pPr>
            <a:r>
              <a:t>     JSON (主存储) + Neo4j (同步) 双后端，写入失败不阻塞推荐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400" b="0">
                <a:solidFill>
                  <a:srgbClr val="1E1E1E"/>
                </a:solidFill>
                <a:latin typeface="Microsoft YaHei"/>
              </a:defRPr>
            </a:pPr>
            <a:r>
              <a:t>     API: GET /adr 列表 + GET /adr/{id} 详情查询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108960"/>
            <a:ext cx="11247120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D7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2D7D46"/>
                </a:solidFill>
                <a:latin typeface="Microsoft YaHei"/>
              </a:defRPr>
            </a:pPr>
            <a:r>
              <a:t>  架构组合推荐 (5 种)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400" b="0">
                <a:solidFill>
                  <a:srgbClr val="1E1E1E"/>
                </a:solidFill>
                <a:latin typeface="Microsoft YaHei"/>
              </a:defRPr>
            </a:pPr>
            <a:r>
              <a:t>     Microservices+Event-Driven | Layered+CQRS | Pipeline-Filter+Event-Driven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400" b="0">
                <a:solidFill>
                  <a:srgbClr val="1E1E1E"/>
                </a:solidFill>
                <a:latin typeface="Microsoft YaHei"/>
              </a:defRPr>
            </a:pPr>
            <a:r>
              <a:t>     Hexagonal+Microservices | CQRS+Event Sourcing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400" b="0">
                <a:solidFill>
                  <a:srgbClr val="1E1E1E"/>
                </a:solidFill>
                <a:latin typeface="Microsoft YaHei"/>
              </a:defRPr>
            </a:pPr>
            <a:r>
              <a:t>     评分: 组成分数和 + 特征覆盖互补 + 图谱 COMPLEMENTS 加分 - 复杂度惩罚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846320"/>
            <a:ext cx="11247120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35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D35400"/>
                </a:solidFill>
                <a:latin typeface="Microsoft YaHei"/>
              </a:defRPr>
            </a:pPr>
            <a:r>
              <a:t>  架构重构建议 (5+5)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400" b="0">
                <a:solidFill>
                  <a:srgbClr val="1E1E1E"/>
                </a:solidFill>
                <a:latin typeface="Microsoft YaHei"/>
              </a:defRPr>
            </a:pPr>
            <a:r>
              <a:t>     5 种坏味检测: 单体耦合 / 扩展瓶颈 / 发布缓慢 / 遗留锁定 / 数据耦合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400" b="0">
                <a:solidFill>
                  <a:srgbClr val="1E1E1E"/>
                </a:solidFill>
                <a:latin typeface="Microsoft YaHei"/>
              </a:defRPr>
            </a:pPr>
            <a:r>
              <a:t>     5 种重构模式: 绞杀者 / 防腐层 / 模块化单体 / CQRS迁移 / 事件驱动迁移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400" b="0">
                <a:solidFill>
                  <a:srgbClr val="1E1E1E"/>
                </a:solidFill>
                <a:latin typeface="Microsoft YaHei"/>
              </a:defRPr>
            </a:pPr>
            <a:r>
              <a:t>     LLM 可选润色，不可用 → 规则模板 (非阻塞调用，超时 8s)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14/18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测试验证体系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CEE"/>
                </a:solidFill>
                <a:latin typeface="Microsoft YaHei"/>
              </a:defRPr>
            </a:pPr>
            <a:r>
              <a:t>四层测试金字塔: 79 单元 + 40 端到端 + 43 验收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15000" y="3840480"/>
            <a:ext cx="731520" cy="91440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43 项自动验收 (15 大类, 9/9 技术建议 100% 通过)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51960" y="3840480"/>
            <a:ext cx="3657600" cy="914400"/>
          </a:xfrm>
          <a:prstGeom prst="roundRect">
            <a:avLst/>
          </a:prstGeom>
          <a:solidFill>
            <a:srgbClr val="2D7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40 条端到端测试 (冒烟20 + 回归20, 5项指标全100%)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23160" y="3840480"/>
            <a:ext cx="7315200" cy="914400"/>
          </a:xfrm>
          <a:prstGeom prst="roundRect">
            <a:avLst/>
          </a:prstGeom>
          <a:solidFill>
            <a:srgbClr val="D3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79 条单元测试 (76 passed, 6 个测试文件, 覆盖全部模块)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56DB"/>
                </a:solidFill>
                <a:latin typeface="Microsoft YaHei"/>
              </a:defRPr>
            </a:pPr>
            <a:r>
              <a:t>回归测试 5 项指标 (对应课程 §三.1 系统测试报告)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2194560"/>
          <a:ext cx="1024128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645920"/>
                <a:gridCol w="1645920"/>
                <a:gridCol w="1645920"/>
                <a:gridCol w="1828800"/>
                <a:gridCol w="16459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指标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Top3完整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主流覆盖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推荐产出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决策可解释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矩阵完整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目标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100%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实际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31520" y="5303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56DB"/>
                </a:solidFill>
                <a:latin typeface="Microsoft YaHei"/>
              </a:defRPr>
            </a:pPr>
            <a:r>
              <a:t>对应课程 §三.1 系统测试报告 + §四 测试验证 (15%) — 20 条用例覆盖 8 大类场景 (即时通讯/电商/金融/大数据/企业/医疗/政务/物联网)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15/18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降级可靠性矩阵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CEE"/>
                </a:solidFill>
                <a:latin typeface="Microsoft YaHei"/>
              </a:defRPr>
            </a:pPr>
            <a:r>
              <a:t>12 种故障场景全覆盖 — 核心结论: LLM全关 20/20 回归通过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105156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4572000"/>
                <a:gridCol w="22860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故障点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降级行为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验证方式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LangGraph 未安装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启动报错, 提示安装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启动检查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LangGraph 运行时异常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返回 502, trace 记录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代码逻辑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LLM 未配置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纯规则模式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回归测试 ✓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LLM 超时 (15/20/25s)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静默 / fallback 摘要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代码逻辑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LLM 返回非 JSON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丢弃 → fallback 模板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代码逻辑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LLM 投票名无效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丢弃不加分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单元测试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Neo4j 不可达 (auto)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自动回退 JSON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单元测试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req/match/eval-agent 不可达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网关 502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异常矩阵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ref-agent 不可达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ref={} 非阻塞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代码逻辑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ADR 写入失败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标记 failed, 不阻塞推荐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代码逻辑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5669280"/>
            <a:ext cx="10515600" cy="73152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2D7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D7D46"/>
                </a:solidFill>
                <a:latin typeface="Microsoft YaHei"/>
              </a:defRPr>
            </a:pPr>
            <a:r>
              <a:t>核心结论: LLM / Neo4j / LangGraph 三个增强组件同时不可用时，纯规则模式回归测试 20/20 通过 — 核心推荐结果不受影响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16/18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总结: 四个核心创新点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1124712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1E1E1E"/>
                </a:solidFill>
                <a:latin typeface="Microsoft YaHei"/>
              </a:defRPr>
            </a:pPr>
            <a:r>
              <a:t>  1. Compound AI System: 规则引擎 + Neo4j + LLM 三层协同，每层独立可降级，不是单一 LLM 黑盒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377440"/>
            <a:ext cx="1124712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1E1E1E"/>
                </a:solidFill>
                <a:latin typeface="Microsoft YaHei"/>
              </a:defRPr>
            </a:pPr>
            <a:r>
              <a:t>  2. 微服务 + LangGraph Subgraph 编排: 8 容器 / 4 Agent / StateGraph + Subgraph 嵌套 + Send() 并行，职责单一 ≤ 393 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291840"/>
            <a:ext cx="1124712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1E1E1E"/>
                </a:solidFill>
                <a:latin typeface="Microsoft YaHei"/>
              </a:defRPr>
            </a:pPr>
            <a:r>
              <a:t>  3. 混合推理 + 幻觉防线: 规则保证下限 + LLM 提升上限，闭集投票 + 强制校验 + 低温度 + Few-shot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206240"/>
            <a:ext cx="1124712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1E1E1E"/>
                </a:solidFill>
                <a:latin typeface="Microsoft YaHei"/>
              </a:defRPr>
            </a:pPr>
            <a:r>
              <a:t>  4. 可解释可降级可测试: 评分每分可追溯 + 12 种故障降级 + 79+40+43 全通过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074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6DB"/>
                </a:solidFill>
                <a:latin typeface="Microsoft YaHei"/>
              </a:defRPr>
            </a:pPr>
            <a:r>
              <a:t>关键架构决策回顾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5440680"/>
          <a:ext cx="10515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657600"/>
                <a:gridCol w="45720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决策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选择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核心理由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服务通信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HTTP+JSON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可调试性优先于性能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图数据库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Neo4j 可选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降低环境依赖，JSON 零依赖可运行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编排引擎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LangGraph StateGraph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状态管理标准化、Subgraph 封装内聚、Send() 声明式并行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缓存方案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memory/SQLite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课程场景够用，无需 Redis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前端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原生 HTML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零构建步骤，打开即看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17/18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Microsoft YaHei"/>
              </a:defRPr>
            </a:pPr>
            <a:r>
              <a:t>谢谢！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CCDDFF"/>
                </a:solidFill>
                <a:latin typeface="Microsoft YaHei"/>
              </a:defRPr>
            </a:pPr>
            <a:r>
              <a:t>欢迎各位老师提问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20624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9AADD"/>
                </a:solidFill>
                <a:latin typeface="Microsoft YaHei"/>
              </a:defRPr>
            </a:pPr>
            <a:r>
              <a:t>Architecture Assistant · 架构风格智能助手</a:t>
            </a:r>
            <a:br/>
            <a:r>
              <a:t>GitHub: zbhzbhzbh11/architecture-assistant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303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99CC"/>
                </a:solidFill>
                <a:latin typeface="Microsoft YaHei"/>
              </a:defRPr>
            </a:pPr>
            <a:r>
              <a:t>FastAPI · LangGraph · Neo4j · LLM (DeepSeek) · Docker Compose · Few-shot Prompt · Compound AI · Multi-Agent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943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99CC"/>
                </a:solidFill>
                <a:latin typeface="Microsoft YaHei"/>
              </a:defRPr>
            </a:pPr>
            <a:r>
              <a:t>43/43 验收通过 · 76 单元测试 · 20 回归 100% · 9/9 技术建议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18/18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